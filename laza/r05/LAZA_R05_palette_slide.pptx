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Palette usage rules. Proportions by visible area: LAZA blue 60%, LAZA white 25%, LAZA yellow 10%, navy 5% (small functional text only). CMYK converted from sRGB via a FOGRA39 profile (ISO 12647-2 coated, relative colorimetric); on uncoated board re-separate for FOGRA52 / PSO Uncoated. Contrast (WCAG): navy on blue 7.0:1; navy on yellow 10.8:1; navy on white 12.2:1; white on blue 1.7:1; yellow on blue 1.5:1; yellow on white 1.1:1.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D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spc="154">
                <a:solidFill>
                  <a:srgbClr val="1F2A44"/>
                </a:solidFill>
                <a:latin typeface="IBM Plex Mono"/>
              </a:rPr>
              <a:t>COLOR PALETTE · USAGE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spc="-60">
                <a:solidFill>
                  <a:srgbClr val="1F2A44"/>
                </a:solidFill>
                <a:latin typeface="Helvetica"/>
              </a:rPr>
              <a:t>Blue leads, white breathes, yellow accents.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D6475"/>
                </a:solidFill>
                <a:latin typeface="Helvetica"/>
              </a:rPr>
              <a:t>Shares are by visible area on any packaging face, page or screen.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6656649" cy="457200"/>
          </a:xfrm>
          <a:prstGeom prst="rect">
            <a:avLst/>
          </a:prstGeom>
          <a:solidFill>
            <a:srgbClr val="A6B7D5"/>
          </a:solidFill>
          <a:ln>
            <a:noFill/>
          </a:ln>
        </p:spPr>
        <p:txBody>
          <a:bodyPr rtlCol="0" anchor="ctr" lIns="109728" rIns="0" tIns="0" bIns="0" wrap="square"/>
          <a:lstStyle/>
          <a:p>
            <a:pPr algn="l"/>
            <a:r>
              <a:rPr sz="1500" b="1">
                <a:solidFill>
                  <a:srgbClr val="1F2A44"/>
                </a:solidFill>
                <a:latin typeface="Helvetica"/>
              </a:rPr>
              <a:t>60%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5289" y="1783080"/>
            <a:ext cx="2773603" cy="457200"/>
          </a:xfrm>
          <a:prstGeom prst="rect">
            <a:avLst/>
          </a:prstGeom>
          <a:solidFill>
            <a:srgbClr val="EEEDE7"/>
          </a:solidFill>
          <a:ln w="9525">
            <a:solidFill>
              <a:srgbClr val="C5C6C6"/>
            </a:solidFill>
          </a:ln>
        </p:spPr>
        <p:txBody>
          <a:bodyPr rtlCol="0" anchor="ctr" lIns="109728" rIns="0" tIns="0" bIns="0" wrap="square"/>
          <a:lstStyle/>
          <a:p>
            <a:pPr algn="l"/>
            <a:r>
              <a:rPr sz="1500" b="1">
                <a:solidFill>
                  <a:srgbClr val="1F2A44"/>
                </a:solidFill>
                <a:latin typeface="Helvetica"/>
              </a:rPr>
              <a:t>25%</a:t>
            </a:r>
          </a:p>
        </p:txBody>
      </p:sp>
      <p:sp>
        <p:nvSpPr>
          <p:cNvPr id="7" name="Rectangle 6"/>
          <p:cNvSpPr/>
          <p:nvPr/>
        </p:nvSpPr>
        <p:spPr>
          <a:xfrm>
            <a:off x="9978892" y="1783080"/>
            <a:ext cx="1109441" cy="457200"/>
          </a:xfrm>
          <a:prstGeom prst="rect">
            <a:avLst/>
          </a:prstGeom>
          <a:solidFill>
            <a:srgbClr val="EEE1A9"/>
          </a:solidFill>
          <a:ln>
            <a:noFill/>
          </a:ln>
        </p:spPr>
        <p:txBody>
          <a:bodyPr rtlCol="0" anchor="ctr" lIns="109728" rIns="0" tIns="0" bIns="0" wrap="square"/>
          <a:lstStyle/>
          <a:p>
            <a:pPr algn="l"/>
            <a:r>
              <a:rPr sz="1500" b="1">
                <a:solidFill>
                  <a:srgbClr val="1F2A44"/>
                </a:solidFill>
                <a:latin typeface="Helvetica"/>
              </a:rPr>
              <a:t>10%</a:t>
            </a:r>
          </a:p>
        </p:txBody>
      </p:sp>
      <p:sp>
        <p:nvSpPr>
          <p:cNvPr id="8" name="Rectangle 7"/>
          <p:cNvSpPr/>
          <p:nvPr/>
        </p:nvSpPr>
        <p:spPr>
          <a:xfrm>
            <a:off x="11088333" y="1783080"/>
            <a:ext cx="554722" cy="4572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rtlCol="0" anchor="ctr" lIns="109728" rIns="0" tIns="0" bIns="0" wrap="square"/>
          <a:lstStyle/>
          <a:p>
            <a:pPr algn="l"/>
            <a:r>
              <a:rPr sz="1500" b="1">
                <a:solidFill>
                  <a:srgbClr val="EEEDE7"/>
                </a:solidFill>
                <a:latin typeface="Helvetica"/>
              </a:rPr>
              <a:t>5%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14600"/>
            <a:ext cx="2602153" cy="822960"/>
          </a:xfrm>
          <a:prstGeom prst="rect">
            <a:avLst/>
          </a:prstGeom>
          <a:solidFill>
            <a:srgbClr val="A6B7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447288"/>
            <a:ext cx="260215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Helvetica"/>
              </a:rPr>
              <a:t>LAZA blue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47288"/>
            <a:ext cx="260215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1">
                <a:solidFill>
                  <a:srgbClr val="1F2A44"/>
                </a:solidFill>
                <a:latin typeface="Helvetica"/>
              </a:rPr>
              <a:t>60%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13048"/>
            <a:ext cx="2602153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475"/>
                </a:solidFill>
                <a:latin typeface="IBM Plex Mono"/>
              </a:rPr>
              <a:t>HEX   </a:t>
            </a:r>
            <a:r>
              <a:rPr sz="1050" b="0">
                <a:solidFill>
                  <a:srgbClr val="1F2A44"/>
                </a:solidFill>
                <a:latin typeface="IBM Plex Mono"/>
              </a:rPr>
              <a:t>#A6B7D5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475"/>
                </a:solidFill>
                <a:latin typeface="IBM Plex Mono"/>
              </a:rPr>
              <a:t>RGB   </a:t>
            </a:r>
            <a:r>
              <a:rPr sz="1050" b="0">
                <a:solidFill>
                  <a:srgbClr val="1F2A44"/>
                </a:solidFill>
                <a:latin typeface="IBM Plex Mono"/>
              </a:rPr>
              <a:t>166 183 213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475"/>
                </a:solidFill>
                <a:latin typeface="IBM Plex Mono"/>
              </a:rPr>
              <a:t>CMYK  </a:t>
            </a:r>
            <a:r>
              <a:rPr sz="1050" b="0">
                <a:solidFill>
                  <a:srgbClr val="1F2A44"/>
                </a:solidFill>
                <a:latin typeface="IBM Plex Mono"/>
              </a:rPr>
              <a:t>40 24 8 0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471416"/>
            <a:ext cx="2602153" cy="9525"/>
          </a:xfrm>
          <a:prstGeom prst="rect">
            <a:avLst/>
          </a:prstGeom>
          <a:solidFill>
            <a:srgbClr val="C5C6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562856"/>
            <a:ext cx="26021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F2A44"/>
                </a:solidFill>
                <a:latin typeface="Helvetica"/>
              </a:rPr>
              <a:t>The field. Box body, bags, cup sleeves, shop signage.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38344"/>
            <a:ext cx="260215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2A44"/>
                </a:solidFill>
                <a:latin typeface="Helvetica"/>
              </a:rPr>
              <a:t>Never: </a:t>
            </a:r>
            <a:r>
              <a:rPr sz="1100" b="0">
                <a:solidFill>
                  <a:srgbClr val="5D6475"/>
                </a:solidFill>
                <a:latin typeface="Helvetica"/>
              </a:rPr>
              <a:t>Tints, gradients, other blues.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79393" y="2514600"/>
            <a:ext cx="2602153" cy="822960"/>
          </a:xfrm>
          <a:prstGeom prst="rect">
            <a:avLst/>
          </a:prstGeom>
          <a:solidFill>
            <a:srgbClr val="EEEDE7"/>
          </a:solidFill>
          <a:ln w="9525">
            <a:solidFill>
              <a:srgbClr val="C5C6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79393" y="3447288"/>
            <a:ext cx="260215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Helvetica"/>
              </a:rPr>
              <a:t>LAZA white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79393" y="3447288"/>
            <a:ext cx="260215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1">
                <a:solidFill>
                  <a:srgbClr val="1F2A44"/>
                </a:solidFill>
                <a:latin typeface="Helvetica"/>
              </a:rPr>
              <a:t>25%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79393" y="3813048"/>
            <a:ext cx="2602153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475"/>
                </a:solidFill>
                <a:latin typeface="IBM Plex Mono"/>
              </a:rPr>
              <a:t>HEX   </a:t>
            </a:r>
            <a:r>
              <a:rPr sz="1050" b="0">
                <a:solidFill>
                  <a:srgbClr val="1F2A44"/>
                </a:solidFill>
                <a:latin typeface="IBM Plex Mono"/>
              </a:rPr>
              <a:t>#EEEDE7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475"/>
                </a:solidFill>
                <a:latin typeface="IBM Plex Mono"/>
              </a:rPr>
              <a:t>RGB   </a:t>
            </a:r>
            <a:r>
              <a:rPr sz="1050" b="0">
                <a:solidFill>
                  <a:srgbClr val="1F2A44"/>
                </a:solidFill>
                <a:latin typeface="IBM Plex Mono"/>
              </a:rPr>
              <a:t>238 237 231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475"/>
                </a:solidFill>
                <a:latin typeface="IBM Plex Mono"/>
              </a:rPr>
              <a:t>CMYK  </a:t>
            </a:r>
            <a:r>
              <a:rPr sz="1050" b="0">
                <a:solidFill>
                  <a:srgbClr val="1F2A44"/>
                </a:solidFill>
                <a:latin typeface="IBM Plex Mono"/>
              </a:rPr>
              <a:t>8 6 10 0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79393" y="4471416"/>
            <a:ext cx="2602153" cy="9525"/>
          </a:xfrm>
          <a:prstGeom prst="rect">
            <a:avLst/>
          </a:prstGeom>
          <a:solidFill>
            <a:srgbClr val="C5C6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79393" y="4562856"/>
            <a:ext cx="26021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F2A44"/>
                </a:solidFill>
                <a:latin typeface="Helvetica"/>
              </a:rPr>
              <a:t>Breathing space. Logo on blue, lids, labels, inner panels.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79393" y="5038344"/>
            <a:ext cx="260215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2A44"/>
                </a:solidFill>
                <a:latin typeface="Helvetica"/>
              </a:rPr>
              <a:t>Never: </a:t>
            </a:r>
            <a:r>
              <a:rPr sz="1100" b="0">
                <a:solidFill>
                  <a:srgbClr val="5D6475"/>
                </a:solidFill>
                <a:latin typeface="Helvetica"/>
              </a:rPr>
              <a:t>Pure #FFFFFF in brand artwork.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0146" y="2514600"/>
            <a:ext cx="2602153" cy="822960"/>
          </a:xfrm>
          <a:prstGeom prst="rect">
            <a:avLst/>
          </a:prstGeom>
          <a:solidFill>
            <a:srgbClr val="EEE1A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0146" y="3447288"/>
            <a:ext cx="260215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Helvetica"/>
              </a:rPr>
              <a:t>LAZA yellow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0146" y="3447288"/>
            <a:ext cx="260215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1">
                <a:solidFill>
                  <a:srgbClr val="1F2A44"/>
                </a:solidFill>
                <a:latin typeface="Helvetica"/>
              </a:rPr>
              <a:t>10%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0146" y="3813048"/>
            <a:ext cx="2602153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475"/>
                </a:solidFill>
                <a:latin typeface="IBM Plex Mono"/>
              </a:rPr>
              <a:t>HEX   </a:t>
            </a:r>
            <a:r>
              <a:rPr sz="1050" b="0">
                <a:solidFill>
                  <a:srgbClr val="1F2A44"/>
                </a:solidFill>
                <a:latin typeface="IBM Plex Mono"/>
              </a:rPr>
              <a:t>#EEE1A9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475"/>
                </a:solidFill>
                <a:latin typeface="IBM Plex Mono"/>
              </a:rPr>
              <a:t>RGB   </a:t>
            </a:r>
            <a:r>
              <a:rPr sz="1050" b="0">
                <a:solidFill>
                  <a:srgbClr val="1F2A44"/>
                </a:solidFill>
                <a:latin typeface="IBM Plex Mono"/>
              </a:rPr>
              <a:t>238 225 169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475"/>
                </a:solidFill>
                <a:latin typeface="IBM Plex Mono"/>
              </a:rPr>
              <a:t>CMYK  </a:t>
            </a:r>
            <a:r>
              <a:rPr sz="1050" b="0">
                <a:solidFill>
                  <a:srgbClr val="1F2A44"/>
                </a:solidFill>
                <a:latin typeface="IBM Plex Mono"/>
              </a:rPr>
              <a:t>9 10 42 0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0146" y="4471416"/>
            <a:ext cx="2602153" cy="9525"/>
          </a:xfrm>
          <a:prstGeom prst="rect">
            <a:avLst/>
          </a:prstGeom>
          <a:solidFill>
            <a:srgbClr val="C5C6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0146" y="4562856"/>
            <a:ext cx="26021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F2A44"/>
                </a:solidFill>
                <a:latin typeface="Helvetica"/>
              </a:rPr>
              <a:t>The accent. Logo, seals, stickers, ribbons. One per face.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0146" y="5038344"/>
            <a:ext cx="260215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2A44"/>
                </a:solidFill>
                <a:latin typeface="Helvetica"/>
              </a:rPr>
              <a:t>Never: </a:t>
            </a:r>
            <a:r>
              <a:rPr sz="1100" b="0">
                <a:solidFill>
                  <a:srgbClr val="5D6475"/>
                </a:solidFill>
                <a:latin typeface="Helvetica"/>
              </a:rPr>
              <a:t>Body text, or yellow on white.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40899" y="2514600"/>
            <a:ext cx="2602153" cy="8229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40899" y="3447288"/>
            <a:ext cx="260215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Helvetica"/>
              </a:rPr>
              <a:t>Navy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40899" y="3447288"/>
            <a:ext cx="260215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1">
                <a:solidFill>
                  <a:srgbClr val="1F2A44"/>
                </a:solidFill>
                <a:latin typeface="Helvetica"/>
              </a:rPr>
              <a:t>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40899" y="3813048"/>
            <a:ext cx="2602153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475"/>
                </a:solidFill>
                <a:latin typeface="IBM Plex Mono"/>
              </a:rPr>
              <a:t>HEX   </a:t>
            </a:r>
            <a:r>
              <a:rPr sz="1050" b="0">
                <a:solidFill>
                  <a:srgbClr val="1F2A44"/>
                </a:solidFill>
                <a:latin typeface="IBM Plex Mono"/>
              </a:rPr>
              <a:t>#1F2A44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475"/>
                </a:solidFill>
                <a:latin typeface="IBM Plex Mono"/>
              </a:rPr>
              <a:t>RGB   </a:t>
            </a:r>
            <a:r>
              <a:rPr sz="1050" b="0">
                <a:solidFill>
                  <a:srgbClr val="1F2A44"/>
                </a:solidFill>
                <a:latin typeface="IBM Plex Mono"/>
              </a:rPr>
              <a:t>31 42 68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475"/>
                </a:solidFill>
                <a:latin typeface="IBM Plex Mono"/>
              </a:rPr>
              <a:t>CMYK  </a:t>
            </a:r>
            <a:r>
              <a:rPr sz="1050" b="0">
                <a:solidFill>
                  <a:srgbClr val="1F2A44"/>
                </a:solidFill>
                <a:latin typeface="IBM Plex Mono"/>
              </a:rPr>
              <a:t>90 60 0 78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40899" y="4471416"/>
            <a:ext cx="2602153" cy="9525"/>
          </a:xfrm>
          <a:prstGeom prst="rect">
            <a:avLst/>
          </a:prstGeom>
          <a:solidFill>
            <a:srgbClr val="C5C6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40899" y="4562856"/>
            <a:ext cx="26021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F2A44"/>
                </a:solidFill>
                <a:latin typeface="Helvetica"/>
              </a:rPr>
              <a:t>Function only. Ingredients, address, legal, barcodes.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40899" y="5038344"/>
            <a:ext cx="260215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2A44"/>
                </a:solidFill>
                <a:latin typeface="Helvetica"/>
              </a:rPr>
              <a:t>Never: </a:t>
            </a:r>
            <a:r>
              <a:rPr sz="1100" b="0">
                <a:solidFill>
                  <a:srgbClr val="5D6475"/>
                </a:solidFill>
                <a:latin typeface="Helvetica"/>
              </a:rPr>
              <a:t>The logo or large areas.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440680"/>
            <a:ext cx="1109441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spc="154">
                <a:solidFill>
                  <a:srgbClr val="1F2A44"/>
                </a:solidFill>
                <a:latin typeface="IBM Plex Mono"/>
              </a:rPr>
              <a:t>PAIRINGS · WCAG CONTRAST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751576"/>
            <a:ext cx="457200" cy="457200"/>
          </a:xfrm>
          <a:prstGeom prst="rect">
            <a:avLst/>
          </a:prstGeom>
          <a:solidFill>
            <a:srgbClr val="A6B7D5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1F2A44"/>
                </a:solidFill>
                <a:latin typeface="Helvetica"/>
              </a:rPr>
              <a:t>Aa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5742432"/>
            <a:ext cx="118612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1F2A44"/>
                </a:solidFill>
                <a:latin typeface="Helvetica"/>
              </a:rPr>
              <a:t>Navy on blue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5D6475"/>
                </a:solidFill>
                <a:latin typeface="Helvetica"/>
              </a:rPr>
              <a:t>7.0:1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5D6475"/>
                </a:solidFill>
                <a:latin typeface="Helvetica"/>
              </a:rPr>
              <a:t>any size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20569" y="5751576"/>
            <a:ext cx="457200" cy="457200"/>
          </a:xfrm>
          <a:prstGeom prst="rect">
            <a:avLst/>
          </a:prstGeom>
          <a:solidFill>
            <a:srgbClr val="EEE1A9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1F2A44"/>
                </a:solidFill>
                <a:latin typeface="Helvetica"/>
              </a:rPr>
              <a:t>Aa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69209" y="5742432"/>
            <a:ext cx="118612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1F2A44"/>
                </a:solidFill>
                <a:latin typeface="Helvetica"/>
              </a:rPr>
              <a:t>Navy on yellow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5D6475"/>
                </a:solidFill>
                <a:latin typeface="Helvetica"/>
              </a:rPr>
              <a:t>10.8:1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5D6475"/>
                </a:solidFill>
                <a:latin typeface="Helvetica"/>
              </a:rPr>
              <a:t>any size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92498" y="5751576"/>
            <a:ext cx="457200" cy="457200"/>
          </a:xfrm>
          <a:prstGeom prst="rect">
            <a:avLst/>
          </a:prstGeom>
          <a:solidFill>
            <a:srgbClr val="EEEDE7"/>
          </a:solidFill>
          <a:ln w="9525">
            <a:solidFill>
              <a:srgbClr val="C5C6C6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1F2A44"/>
                </a:solidFill>
                <a:latin typeface="Helvetica"/>
              </a:rPr>
              <a:t>Aa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1138" y="5742432"/>
            <a:ext cx="118612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1F2A44"/>
                </a:solidFill>
                <a:latin typeface="Helvetica"/>
              </a:rPr>
              <a:t>Navy on white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5D6475"/>
                </a:solidFill>
                <a:latin typeface="Helvetica"/>
              </a:rPr>
              <a:t>12.2:1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5D6475"/>
                </a:solidFill>
                <a:latin typeface="Helvetica"/>
              </a:rPr>
              <a:t>any size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64427" y="5751576"/>
            <a:ext cx="457200" cy="457200"/>
          </a:xfrm>
          <a:prstGeom prst="rect">
            <a:avLst/>
          </a:prstGeom>
          <a:solidFill>
            <a:srgbClr val="A6B7D5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EEEDE7"/>
                </a:solidFill>
                <a:latin typeface="Helvetica"/>
              </a:rPr>
              <a:t>Aa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13067" y="5742432"/>
            <a:ext cx="118612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1F2A44"/>
                </a:solidFill>
                <a:latin typeface="Helvetica"/>
              </a:rPr>
              <a:t>White on blue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5D6475"/>
                </a:solidFill>
                <a:latin typeface="Helvetica"/>
              </a:rPr>
              <a:t>1.7:1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5D6475"/>
                </a:solidFill>
                <a:latin typeface="Helvetica"/>
              </a:rPr>
              <a:t>large type only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36356" y="5751576"/>
            <a:ext cx="457200" cy="457200"/>
          </a:xfrm>
          <a:prstGeom prst="rect">
            <a:avLst/>
          </a:prstGeom>
          <a:solidFill>
            <a:srgbClr val="A6B7D5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EEE1A9"/>
                </a:solidFill>
                <a:latin typeface="Helvetica"/>
              </a:rPr>
              <a:t>Aa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84996" y="5742432"/>
            <a:ext cx="118612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1F2A44"/>
                </a:solidFill>
                <a:latin typeface="Helvetica"/>
              </a:rPr>
              <a:t>Yellow on blue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5D6475"/>
                </a:solidFill>
                <a:latin typeface="Helvetica"/>
              </a:rPr>
              <a:t>1.5:1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5D6475"/>
                </a:solidFill>
                <a:latin typeface="Helvetica"/>
              </a:rPr>
              <a:t>large type only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908285" y="5751576"/>
            <a:ext cx="457200" cy="457200"/>
          </a:xfrm>
          <a:prstGeom prst="rect">
            <a:avLst/>
          </a:prstGeom>
          <a:solidFill>
            <a:srgbClr val="EEEDE7"/>
          </a:solidFill>
          <a:ln w="9525">
            <a:solidFill>
              <a:srgbClr val="C5C6C6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EEE1A9"/>
                </a:solidFill>
                <a:latin typeface="Helvetica"/>
              </a:rPr>
              <a:t>Aa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56925" y="5742432"/>
            <a:ext cx="118612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1F2A44"/>
                </a:solidFill>
                <a:latin typeface="Helvetica"/>
              </a:rPr>
              <a:t>Yellow on white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5D6475"/>
                </a:solidFill>
                <a:latin typeface="Helvetica"/>
              </a:rPr>
              <a:t>1.1:1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5D6475"/>
                </a:solidFill>
                <a:latin typeface="Helvetica"/>
              </a:rPr>
              <a:t>never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419088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D6475"/>
                </a:solidFill>
                <a:latin typeface="IBM Plex Mono"/>
              </a:rPr>
              <a:t>LAZA · Logo × packaging · Round 05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06240" y="6419088"/>
            <a:ext cx="65224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D6475"/>
                </a:solidFill>
                <a:latin typeface="IBM Plex Mono"/>
              </a:rPr>
              <a:t>CMYK: FOGRA39 coated, relative colorimetric. Match Pantone and sign off a printed proof.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728655" y="6419088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D6475"/>
                </a:solidFill>
                <a:latin typeface="IBM Plex Mono"/>
              </a:rPr>
              <a:t>13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